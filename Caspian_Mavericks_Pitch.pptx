
<file path=[Content_Types].xml><?xml version="1.0" encoding="utf-8"?>
<Types xmlns="http://schemas.openxmlformats.org/package/2006/content-types">
  <Default Extension="jpg" ContentType="image/jp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E16F627E-7A04-9FEF-0F48-A64586736370}">
          <p14:sldIdLst>
            <p14:sldId id="256"/>
            <p14:sldId id="257"/>
          </p14:sldIdLst>
        </p14:section>
        <p14:section name="The robot" id="{9FBBABC4-9E31-46C5-7DBD-F0D4DADE26D2}">
          <p14:sldIdLst>
            <p14:sldId id="258"/>
            <p14:sldId id="259"/>
            <p14:sldId id="260"/>
          </p14:sldIdLst>
        </p14:section>
        <p14:section name="Results" id="{38D8E61B-C106-B2C7-5BE2-34BAC404ED4B}">
          <p14:sldIdLst>
            <p14:sldId id="261"/>
            <p14:sldId id="262"/>
          </p14:sldIdLst>
        </p14:section>
        <p14:section name="Demo and outlook" id="{C57A0921-2170-F65B-3DBA-6BF9CD2F13E2}">
          <p14:sldIdLst>
            <p14:sldId id="263"/>
            <p14:sldId id="26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88" d="100"/>
          <a:sy n="88" d="100"/>
        </p:scale>
        <p:origin x="388" y="3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336939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411480"/>
            <a:ext cx="11094415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200" b="1" dirty="0">
                <a:solidFill>
                  <a:schemeClr val="tx1"/>
                </a:solidFill>
              </a:defRPr>
            </a:lvl1pPr>
          </a:lstStyle>
          <a:p>
            <a:pPr marL="0" indent="0" algn="l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26364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26364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26364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097280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LUTES Deep Tech Hackathon 2026 · Challenge 1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554480"/>
            <a:ext cx="5852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400" b="1" dirty="0">
                <a:solidFill>
                  <a:schemeClr val="tx1"/>
                </a:solidFill>
              </a:rPr>
              <a:t>Obstacle-Avoiding Rover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108960"/>
            <a:ext cx="5669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chemeClr val="accent3"/>
                </a:solidFill>
              </a:rPr>
              <a:t>A 2WD robot that measures the distance to obstacles and drives around them on its own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206240"/>
            <a:ext cx="5852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chemeClr val="tx1"/>
                </a:solidFill>
              </a:rPr>
              <a:t>Caspian Mavericks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4663440"/>
            <a:ext cx="5852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accent3"/>
                </a:solidFill>
              </a:rPr>
              <a:t>Mohammadsadegh Shoushtaridehshal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chemeClr val="accent3"/>
                </a:solidFill>
              </a:rPr>
              <a:t>Amirmohammad Shariatkhah</a:t>
            </a:r>
            <a:endParaRPr lang="en-US" sz="1600" dirty="0"/>
          </a:p>
        </p:txBody>
      </p:sp>
      <p:pic>
        <p:nvPicPr>
          <p:cNvPr id="7" name="Image 0" descr="Top view of the rov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6560" y="960120"/>
            <a:ext cx="4873752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41148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1 Challenge and what we built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5303520" cy="338328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64592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The brief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148840"/>
            <a:ext cx="47548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i="1" dirty="0">
                <a:solidFill>
                  <a:schemeClr val="accent3"/>
                </a:solidFill>
              </a:rPr>
              <a:t>“Design and construct a mobile two-wheel drive (2WD) robotic rover capable of navigating dynamic environments autonomously by measuring distances to surrounding obstacles and executing avoidance maneuvers to prevent collisions.”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6400800" y="146304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Our rover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6400800" y="1965960"/>
            <a:ext cx="521208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chemeClr val="tx1"/>
                </a:solidFill>
              </a:rPr>
              <a:t>Measures the distance ahead every 60 ms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chemeClr val="tx1"/>
                </a:solidFill>
              </a:rPr>
              <a:t>Stops at 20 cm, reverses, scans 7 directions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chemeClr val="tx1"/>
                </a:solidFill>
              </a:rPr>
              <a:t>Curves towards the clearer side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chemeClr val="tx1"/>
                </a:solidFill>
              </a:rPr>
              <a:t>Remembers where it has already driven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chemeClr val="tx1"/>
                </a:solidFill>
              </a:rPr>
              <a:t>Detects when it is stuck on something it cannot see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chemeClr val="tx1"/>
                </a:solidFill>
              </a:rPr>
              <a:t>Live dashboard over WiFi: radar, map, manual control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26364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41148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2 Hardware</a:t>
            </a:r>
            <a:endParaRPr lang="en-US" sz="3200" dirty="0"/>
          </a:p>
        </p:txBody>
      </p:sp>
      <p:pic>
        <p:nvPicPr>
          <p:cNvPr id="3" name="Image 0" descr="Top view of the assembled rov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417320"/>
            <a:ext cx="4572000" cy="4288536"/>
          </a:xfrm>
          <a:prstGeom prst="rect">
            <a:avLst/>
          </a:prstGeom>
        </p:spPr>
      </p:pic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88395954"/>
              </p:ext>
            </p:extLst>
          </p:nvPr>
        </p:nvGraphicFramePr>
        <p:xfrm>
          <a:off x="5486400" y="1417320"/>
          <a:ext cx="6153912" cy="332232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679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b="1" dirty="0">
                          <a:solidFill>
                            <a:schemeClr val="tx1"/>
                          </a:solidFill>
                        </a:rPr>
                        <a:t>Part</a:t>
                      </a:r>
                      <a:endParaRPr lang="en-US" sz="1700" dirty="0"/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C9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b="1" dirty="0">
                          <a:solidFill>
                            <a:schemeClr val="tx1"/>
                          </a:solidFill>
                        </a:rPr>
                        <a:t>Why</a:t>
                      </a:r>
                      <a:endParaRPr lang="en-US" sz="1700" dirty="0"/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C9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Arduino UNO R4 WiFi</a:t>
                      </a:r>
                      <a:endParaRPr lang="en-US" sz="1700" dirty="0"/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C9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Controller with built-in WiFi for the dashboard</a:t>
                      </a:r>
                      <a:endParaRPr lang="en-US" sz="1700" dirty="0"/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C9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2 × 28BYJ-48 steppers + ULN2003</a:t>
                      </a:r>
                      <a:endParaRPr lang="en-US" sz="1700" dirty="0"/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C9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Every step is counted: exact distance and turn angle. The kit had no driver for DC motors</a:t>
                      </a:r>
                      <a:endParaRPr lang="en-US" sz="1700" dirty="0"/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C9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HC-SR04 on SG-90 servo</a:t>
                      </a:r>
                      <a:endParaRPr lang="en-US" sz="1700" dirty="0"/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C9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One sensor scans from 60° to 120°</a:t>
                      </a:r>
                      <a:endParaRPr lang="en-US" sz="1700" dirty="0"/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C9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2 × 18650 + switch → VIN</a:t>
                      </a:r>
                      <a:endParaRPr lang="en-US" sz="1700" dirty="0"/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C9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7.4 V; the board's regulator feeds the 5 V rail</a:t>
                      </a:r>
                      <a:endParaRPr lang="en-US" sz="1700" dirty="0"/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C9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26364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41148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3 Obstacle avoidance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1779971" cy="219456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645920"/>
            <a:ext cx="1505651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100" b="1" dirty="0">
                <a:solidFill>
                  <a:schemeClr val="accent1"/>
                </a:solidFill>
              </a:rPr>
              <a:t>Drive</a:t>
            </a:r>
            <a:endParaRPr lang="en-US" sz="21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2148840"/>
            <a:ext cx="1505651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Measure ahead every 60 ms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2420051" y="2423160"/>
            <a:ext cx="365760" cy="274320"/>
          </a:xfrm>
          <a:prstGeom prst="rightArrow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77251" y="1463040"/>
            <a:ext cx="1779971" cy="219456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014411" y="1645920"/>
            <a:ext cx="1505651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100" b="1" dirty="0">
                <a:solidFill>
                  <a:schemeClr val="accent1"/>
                </a:solidFill>
              </a:rPr>
              <a:t>Detect</a:t>
            </a:r>
            <a:endParaRPr lang="en-US" sz="2100" dirty="0"/>
          </a:p>
        </p:txBody>
      </p:sp>
      <p:sp>
        <p:nvSpPr>
          <p:cNvPr id="9" name="Text 7"/>
          <p:cNvSpPr txBox="1"/>
          <p:nvPr/>
        </p:nvSpPr>
        <p:spPr>
          <a:xfrm>
            <a:off x="3014411" y="2148840"/>
            <a:ext cx="1505651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Under 20 cm, confirmed by a second reading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748662" y="2423160"/>
            <a:ext cx="365760" cy="274320"/>
          </a:xfrm>
          <a:prstGeom prst="rightArrow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205862" y="1463040"/>
            <a:ext cx="1779971" cy="219456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343022" y="1645920"/>
            <a:ext cx="1505651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100" b="1" dirty="0">
                <a:solidFill>
                  <a:schemeClr val="accent1"/>
                </a:solidFill>
              </a:rPr>
              <a:t>Back off</a:t>
            </a:r>
            <a:endParaRPr lang="en-US" sz="2100" dirty="0"/>
          </a:p>
        </p:txBody>
      </p:sp>
      <p:sp>
        <p:nvSpPr>
          <p:cNvPr id="13" name="Text 11"/>
          <p:cNvSpPr txBox="1"/>
          <p:nvPr/>
        </p:nvSpPr>
        <p:spPr>
          <a:xfrm>
            <a:off x="5343022" y="2148840"/>
            <a:ext cx="1505651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Reverse 15 cm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077273" y="2423160"/>
            <a:ext cx="365760" cy="274320"/>
          </a:xfrm>
          <a:prstGeom prst="rightArrow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534473" y="1463040"/>
            <a:ext cx="1779971" cy="219456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671633" y="1645920"/>
            <a:ext cx="1505651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100" b="1" dirty="0">
                <a:solidFill>
                  <a:schemeClr val="accent1"/>
                </a:solidFill>
              </a:rPr>
              <a:t>Scan</a:t>
            </a:r>
            <a:endParaRPr lang="en-US" sz="2100" dirty="0"/>
          </a:p>
        </p:txBody>
      </p:sp>
      <p:sp>
        <p:nvSpPr>
          <p:cNvPr id="17" name="Text 15"/>
          <p:cNvSpPr txBox="1"/>
          <p:nvPr/>
        </p:nvSpPr>
        <p:spPr>
          <a:xfrm>
            <a:off x="7671633" y="2148840"/>
            <a:ext cx="1505651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7 directions, </a:t>
            </a:r>
            <a:r>
              <a:rPr lang="en-US" sz="1600" dirty="0"/>
              <a:t>6</a:t>
            </a:r>
            <a:r>
              <a:rPr lang="en-US" sz="1600" dirty="0">
                <a:solidFill>
                  <a:schemeClr val="tx1"/>
                </a:solidFill>
              </a:rPr>
              <a:t>0° to 1</a:t>
            </a:r>
            <a:r>
              <a:rPr lang="en-US" sz="1600" dirty="0"/>
              <a:t>2</a:t>
            </a:r>
            <a:r>
              <a:rPr lang="en-US" sz="1600" dirty="0">
                <a:solidFill>
                  <a:schemeClr val="tx1"/>
                </a:solidFill>
              </a:rPr>
              <a:t>0°, median of 3 readings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9405884" y="2423160"/>
            <a:ext cx="365760" cy="274320"/>
          </a:xfrm>
          <a:prstGeom prst="rightArrow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863084" y="1463040"/>
            <a:ext cx="1779971" cy="219456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10000244" y="1645920"/>
            <a:ext cx="1505651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100" b="1" dirty="0">
                <a:solidFill>
                  <a:schemeClr val="accent1"/>
                </a:solidFill>
              </a:rPr>
              <a:t>Turn</a:t>
            </a:r>
            <a:endParaRPr lang="en-US" sz="2100" dirty="0"/>
          </a:p>
        </p:txBody>
      </p:sp>
      <p:sp>
        <p:nvSpPr>
          <p:cNvPr id="21" name="Text 19"/>
          <p:cNvSpPr txBox="1"/>
          <p:nvPr/>
        </p:nvSpPr>
        <p:spPr>
          <a:xfrm>
            <a:off x="10000244" y="2148840"/>
            <a:ext cx="1505651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45° curve, 25 cm radius, to the better side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4114800"/>
            <a:ext cx="11094415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600"/>
              </a:spcAft>
              <a:buNone/>
            </a:pPr>
            <a:r>
              <a:rPr lang="en-US" sz="1900" b="1" dirty="0">
                <a:solidFill>
                  <a:schemeClr val="tx1"/>
                </a:solidFill>
              </a:rPr>
              <a:t>Better side</a:t>
            </a:r>
            <a:r>
              <a:rPr lang="en-US" sz="1900" dirty="0">
                <a:solidFill>
                  <a:schemeClr val="tx1"/>
                </a:solidFill>
              </a:rPr>
              <a:t> = free space measured on that side − 20 cm for every already-visited cell the curve leads into</a:t>
            </a:r>
            <a:endParaRPr lang="en-US" sz="1900" dirty="0"/>
          </a:p>
          <a:p>
            <a:pPr marL="0" indent="0">
              <a:spcAft>
                <a:spcPts val="1600"/>
              </a:spcAft>
              <a:buNone/>
            </a:pPr>
            <a:r>
              <a:rPr lang="en-US" sz="1900" b="1" dirty="0">
                <a:solidFill>
                  <a:schemeClr val="tx1"/>
                </a:solidFill>
              </a:rPr>
              <a:t>Both sides blocked</a:t>
            </a:r>
            <a:r>
              <a:rPr lang="en-US" sz="1900" dirty="0">
                <a:solidFill>
                  <a:schemeClr val="tx1"/>
                </a:solidFill>
              </a:rPr>
              <a:t> → reverse along a curve and scan again; no spinning in place</a:t>
            </a:r>
            <a:endParaRPr lang="en-US" sz="1900" dirty="0"/>
          </a:p>
          <a:p>
            <a:pPr marL="0" indent="0">
              <a:spcAft>
                <a:spcPts val="1600"/>
              </a:spcAft>
              <a:buNone/>
            </a:pPr>
            <a:r>
              <a:rPr lang="en-US" sz="1900" b="1" dirty="0">
                <a:solidFill>
                  <a:schemeClr val="tx1"/>
                </a:solidFill>
              </a:rPr>
              <a:t>Motors run from a 10 kHz timer interrupt</a:t>
            </a:r>
            <a:r>
              <a:rPr lang="en-US" sz="1900" dirty="0">
                <a:solidFill>
                  <a:schemeClr val="tx1"/>
                </a:solidFill>
              </a:rPr>
              <a:t> → measuring and WiFi never pause the wheels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26364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41148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4 Position, memory and stuck detection</a:t>
            </a:r>
            <a:endParaRPr lang="en-US" sz="3200" dirty="0"/>
          </a:p>
        </p:txBody>
      </p:sp>
      <p:pic>
        <p:nvPicPr>
          <p:cNvPr id="3" name="Image 0" descr="Chair test track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371600"/>
            <a:ext cx="3291840" cy="438912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585216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accent6"/>
                </a:solidFill>
              </a:rPr>
              <a:t>Our chair test track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4297680" y="137160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100" b="1" dirty="0">
                <a:solidFill>
                  <a:schemeClr val="accent1"/>
                </a:solidFill>
              </a:rPr>
              <a:t>Position from the steps</a:t>
            </a:r>
            <a:endParaRPr lang="en-US" sz="2100" dirty="0"/>
          </a:p>
        </p:txBody>
      </p:sp>
      <p:sp>
        <p:nvSpPr>
          <p:cNvPr id="6" name="Text 3"/>
          <p:cNvSpPr txBox="1"/>
          <p:nvPr/>
        </p:nvSpPr>
        <p:spPr>
          <a:xfrm>
            <a:off x="4297680" y="182880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dirty="0">
                <a:solidFill>
                  <a:schemeClr val="accent3"/>
                </a:solidFill>
              </a:rPr>
              <a:t>x, y and heading from the step counts of both wheels (4096 half-steps per wheel turn). No extra sensor needed.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4297680" y="292608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100" b="1" dirty="0">
                <a:solidFill>
                  <a:schemeClr val="accent1"/>
                </a:solidFill>
              </a:rPr>
              <a:t>Memory of visited places</a:t>
            </a:r>
            <a:endParaRPr lang="en-US" sz="2100" dirty="0"/>
          </a:p>
        </p:txBody>
      </p:sp>
      <p:sp>
        <p:nvSpPr>
          <p:cNvPr id="8" name="Text 5"/>
          <p:cNvSpPr txBox="1"/>
          <p:nvPr/>
        </p:nvSpPr>
        <p:spPr>
          <a:xfrm>
            <a:off x="4297680" y="338328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dirty="0">
                <a:solidFill>
                  <a:schemeClr val="accent3"/>
                </a:solidFill>
              </a:rPr>
              <a:t>10 cm grid over 6 × 6 m. On the chair track the robot kept turning back to the entrance; now turns that lead into visited cells lose points.</a:t>
            </a:r>
            <a:endParaRPr lang="en-US" sz="1700" dirty="0"/>
          </a:p>
        </p:txBody>
      </p:sp>
      <p:sp>
        <p:nvSpPr>
          <p:cNvPr id="9" name="Text 6"/>
          <p:cNvSpPr txBox="1"/>
          <p:nvPr/>
        </p:nvSpPr>
        <p:spPr>
          <a:xfrm>
            <a:off x="4297680" y="448056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100" b="1" dirty="0">
                <a:solidFill>
                  <a:schemeClr val="accent1"/>
                </a:solidFill>
              </a:rPr>
              <a:t>Stuck detection</a:t>
            </a:r>
            <a:endParaRPr lang="en-US" sz="2100" dirty="0"/>
          </a:p>
        </p:txBody>
      </p:sp>
      <p:sp>
        <p:nvSpPr>
          <p:cNvPr id="10" name="Text 7"/>
          <p:cNvSpPr txBox="1"/>
          <p:nvPr/>
        </p:nvSpPr>
        <p:spPr>
          <a:xfrm>
            <a:off x="4297680" y="493776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dirty="0">
                <a:solidFill>
                  <a:schemeClr val="accent3"/>
                </a:solidFill>
              </a:rPr>
              <a:t>Steppers give no feedback. If the steps say 10 cm but the distance ahead changed less than 3 cm, something the sensor missed (a thin chair leg) is blocking it: back off and turn.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26364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41148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5 Dashboard</a:t>
            </a:r>
            <a:endParaRPr lang="en-US" sz="3200" dirty="0"/>
          </a:p>
        </p:txBody>
      </p:sp>
      <p:pic>
        <p:nvPicPr>
          <p:cNvPr id="3" name="Image 0" descr="Dashboard with radar, map, manual control and speed slider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371600"/>
            <a:ext cx="6949440" cy="448970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594360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accent6"/>
                </a:solidFill>
              </a:rPr>
              <a:t>Shown with test data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7863840" y="1371600"/>
            <a:ext cx="3776472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Served by the robot itself: http://192.168.137.50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START / STOP and hold-to-drive arrows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Speed sliders, applied live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Radar: the last 7-point scan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Map: path and detected obstacles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Distance graph and event log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Manual drive stops by itself at 20 cm and when the signal is lost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26364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41148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6 Testing and calibration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chemeClr val="accent1"/>
                </a:solidFill>
              </a:rPr>
              <a:t>Calibration</a:t>
            </a:r>
            <a:endParaRPr lang="en-US" sz="19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8800"/>
          <a:ext cx="5394960" cy="306324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b="1" dirty="0">
                          <a:solidFill>
                            <a:schemeClr val="tx1"/>
                          </a:solidFill>
                        </a:rPr>
                        <a:t>Test</a:t>
                      </a:r>
                      <a:endParaRPr lang="en-US" sz="1700" dirty="0"/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C9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b="1" dirty="0">
                          <a:solidFill>
                            <a:schemeClr val="tx1"/>
                          </a:solidFill>
                        </a:rPr>
                        <a:t>Result</a:t>
                      </a:r>
                      <a:endParaRPr lang="en-US" sz="1700" dirty="0"/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C9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Drive 30 cm</a:t>
                      </a:r>
                      <a:endParaRPr lang="en-US" sz="1700" dirty="0"/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C9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Drove 34 cm → wheel diameter 6.8 cm</a:t>
                      </a:r>
                      <a:endParaRPr lang="en-US" sz="1700" dirty="0"/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C9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Spin 360°</a:t>
                      </a:r>
                      <a:endParaRPr lang="en-US" sz="1700" dirty="0"/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C9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Turned 340° → wheel distance 21.6 cm</a:t>
                      </a:r>
                      <a:endParaRPr lang="en-US" sz="1700" dirty="0"/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C9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Speed steps 900 to 1700</a:t>
                      </a:r>
                      <a:endParaRPr lang="en-US" sz="1700" dirty="0"/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C9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1500 skips steps → 1100 (5.7 cm/s)</a:t>
                      </a:r>
                      <a:endParaRPr lang="en-US" sz="1700" dirty="0"/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C9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Servo sweep</a:t>
                      </a:r>
                      <a:endParaRPr lang="en-US" sz="1700" dirty="0"/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C9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60° to 120° free, 90° straight ahead</a:t>
                      </a:r>
                      <a:endParaRPr lang="en-US" sz="1700" dirty="0"/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C9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6263640" y="1371600"/>
            <a:ext cx="5376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chemeClr val="accent1"/>
                </a:solidFill>
              </a:rPr>
              <a:t>Problems found and fixed</a:t>
            </a:r>
            <a:endParaRPr lang="en-US" sz="1900" dirty="0"/>
          </a:p>
        </p:txBody>
      </p:sp>
      <p:graphicFrame>
        <p:nvGraphicFramePr>
          <p:cNvPr id="1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63640" y="1828800"/>
          <a:ext cx="5376672" cy="3874008"/>
        </p:xfrm>
        <a:graphic>
          <a:graphicData uri="http://schemas.openxmlformats.org/drawingml/2006/table">
            <a:tbl>
              <a:tblPr/>
              <a:tblGrid>
                <a:gridCol w="2651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249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b="1" dirty="0">
                          <a:solidFill>
                            <a:schemeClr val="tx1"/>
                          </a:solidFill>
                        </a:rPr>
                        <a:t>Problem</a:t>
                      </a:r>
                      <a:endParaRPr lang="en-US" sz="1700" dirty="0"/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C9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b="1" dirty="0">
                          <a:solidFill>
                            <a:schemeClr val="tx1"/>
                          </a:solidFill>
                        </a:rPr>
                        <a:t>Fix</a:t>
                      </a:r>
                      <a:endParaRPr lang="en-US" sz="1700" dirty="0"/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C9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Battery wired to the 5 V rail</a:t>
                      </a:r>
                      <a:endParaRPr lang="en-US" sz="1700" dirty="0"/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C9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Battery to VIN only</a:t>
                      </a:r>
                      <a:endParaRPr lang="en-US" sz="1700" dirty="0"/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C9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Robot never stopped</a:t>
                      </a:r>
                      <a:endParaRPr lang="en-US" sz="1700" dirty="0"/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C9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30 ms pause before the confirming reading</a:t>
                      </a:r>
                      <a:endParaRPr lang="en-US" sz="1700" dirty="0"/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C9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Motors clicking</a:t>
                      </a:r>
                      <a:endParaRPr lang="en-US" sz="1700" dirty="0"/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C9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Lower speed, smooth acceleration</a:t>
                      </a:r>
                      <a:endParaRPr lang="en-US" sz="1700" dirty="0"/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C9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Hotspot gave no address</a:t>
                      </a:r>
                      <a:endParaRPr lang="en-US" sz="1700" dirty="0"/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C9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Fixed IP 192.168.137.50</a:t>
                      </a:r>
                      <a:endParaRPr lang="en-US" sz="1700" dirty="0"/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C9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Went back out of the U-track</a:t>
                      </a:r>
                      <a:endParaRPr lang="en-US" sz="1700" dirty="0"/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C9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Memory of visited cells</a:t>
                      </a:r>
                      <a:endParaRPr lang="en-US" sz="1700" dirty="0"/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C9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Thin chair legs not seen</a:t>
                      </a:r>
                      <a:endParaRPr lang="en-US" sz="1700" dirty="0"/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C9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Stuck detection</a:t>
                      </a:r>
                      <a:endParaRPr lang="en-US" sz="1700" dirty="0"/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C9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26364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280160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800" b="1" dirty="0">
                <a:solidFill>
                  <a:schemeClr val="bg1"/>
                </a:solidFill>
              </a:rPr>
              <a:t>Live demo</a:t>
            </a:r>
            <a:endParaRPr lang="en-US" sz="4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468880"/>
            <a:ext cx="11094415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200" dirty="0">
                <a:solidFill>
                  <a:schemeClr val="accent5"/>
                </a:solidFill>
              </a:rPr>
              <a:t>START from the dashboard</a:t>
            </a:r>
            <a:endParaRPr lang="en-US" sz="2200" dirty="0"/>
          </a:p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200" dirty="0">
                <a:solidFill>
                  <a:schemeClr val="accent5"/>
                </a:solidFill>
              </a:rPr>
              <a:t>Obstacle ahead: stop, back off, scan, curve away</a:t>
            </a:r>
            <a:endParaRPr lang="en-US" sz="2200" dirty="0"/>
          </a:p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200" dirty="0">
                <a:solidFill>
                  <a:schemeClr val="accent5"/>
                </a:solidFill>
              </a:rPr>
              <a:t>Radar and map update while it drives</a:t>
            </a:r>
            <a:endParaRPr lang="en-US" sz="2200" dirty="0"/>
          </a:p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200" dirty="0">
                <a:solidFill>
                  <a:schemeClr val="accent5"/>
                </a:solidFill>
              </a:rPr>
              <a:t>Manual drive with the arrow keys, then STOP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26364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41148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7 Limitations and next steps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1732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Limitations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920240"/>
            <a:ext cx="53035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Sees only ahead while driving (about ±15°)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Very thin or steeply angled objects can be missed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Map drifts when the wheels slip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Slow: about 5.7 cm/s with 5 V steppers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400800" y="141732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Next steps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6400800" y="1920240"/>
            <a:ext cx="521208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Bumper switches on the front corners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Side sensors to follow walls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Geared DC motors with encoders for speed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Use the stored map to plan a route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539496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accent3"/>
                </a:solidFill>
              </a:rPr>
              <a:t>Code: github.com/sadeghshoushtari/obstacle-avoiding-rover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chemeClr val="accent3"/>
                </a:solidFill>
              </a:rPr>
              <a:t>Libraries used: AccelStepper, Servo, WiFiS3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26364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aspian Mavericks">
  <a:themeElements>
    <a:clrScheme name="Caspian Mavericks">
      <a:dk1>
        <a:srgbClr val="1B1F24"/>
      </a:dk1>
      <a:lt1>
        <a:srgbClr val="FFFFFF"/>
      </a:lt1>
      <a:dk2>
        <a:srgbClr val="16283D"/>
      </a:dk2>
      <a:lt2>
        <a:srgbClr val="EAF0F7"/>
      </a:lt2>
      <a:accent1>
        <a:srgbClr val="1F5FA8"/>
      </a:accent1>
      <a:accent2>
        <a:srgbClr val="C8641E"/>
      </a:accent2>
      <a:accent3>
        <a:srgbClr val="4A5260"/>
      </a:accent3>
      <a:accent4>
        <a:srgbClr val="8A939E"/>
      </a:accent4>
      <a:accent5>
        <a:srgbClr val="C9D6E5"/>
      </a:accent5>
      <a:accent6>
        <a:srgbClr val="6A7280"/>
      </a:accent6>
      <a:hlink>
        <a:srgbClr val="1F5FA8"/>
      </a:hlink>
      <a:folHlink>
        <a:srgbClr val="4A5260"/>
      </a:folHlink>
    </a:clrScheme>
    <a:fontScheme name="Caspian Mavericks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182</TotalTime>
  <Words>725</Words>
  <Application>Microsoft Office PowerPoint</Application>
  <PresentationFormat>Widescreen</PresentationFormat>
  <Paragraphs>120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1" baseType="lpstr">
      <vt:lpstr>Arial</vt:lpstr>
      <vt:lpstr>Caspian Mavericks</vt:lpstr>
      <vt:lpstr>PowerPoint Presentation</vt:lpstr>
      <vt:lpstr>1 Challenge and what we built</vt:lpstr>
      <vt:lpstr>2 Hardware</vt:lpstr>
      <vt:lpstr>3 Obstacle avoidance</vt:lpstr>
      <vt:lpstr>4 Position, memory and stuck detection</vt:lpstr>
      <vt:lpstr>5 Dashboard</vt:lpstr>
      <vt:lpstr>6 Testing and calibration</vt:lpstr>
      <vt:lpstr>PowerPoint Presentation</vt:lpstr>
      <vt:lpstr>7 Limitations and next steps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Obstacle-Avoiding Rover</dc:title>
  <dc:subject>PptxGenJS Presentation</dc:subject>
  <dc:creator>Caspian Mavericks</dc:creator>
  <cp:lastModifiedBy>mohammadsadegh shoushtari</cp:lastModifiedBy>
  <cp:revision>4</cp:revision>
  <dcterms:created xsi:type="dcterms:W3CDTF">2026-10-11T09:14:38Z</dcterms:created>
  <dcterms:modified xsi:type="dcterms:W3CDTF">2026-10-11T12:36:42Z</dcterms:modified>
</cp:coreProperties>
</file>